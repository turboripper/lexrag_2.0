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53078f04cc44922" Type="http://schemas.openxmlformats.org/officeDocument/2006/relationships/custom-properties" Target="docProps/custom.xml"/><Relationship Id="R5f76f5a9c4e349da" Type="http://schemas.openxmlformats.org/officeDocument/2006/relationships/officeDocument" Target="ppt/presentation.xml"/><Relationship Id="Rb83e80b3d4fc452d" Type="http://schemas.openxmlformats.org/package/2006/relationships/metadata/core-properties" Target="docProps/core.xml"/><Relationship Id="Rc386f21c779843c6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d43b5c2c4ebe4eb0"/>
  </p:sldMasterIdLst>
  <p:sldIdLst>
    <p:sldId id="256" r:id="R8e237fb8085b48f0"/>
    <p:sldId id="257" r:id="R776574a08969436c"/>
    <p:sldId id="258" r:id="Rb4982f1a85d240d6"/>
    <p:sldId id="259" r:id="R0aac8b4d86aa4a43"/>
    <p:sldId id="260" r:id="R28b6c539a40d4c7a"/>
    <p:sldId id="261" r:id="R41f31cb400c94c2d"/>
    <p:sldId id="262" r:id="R9d0aaf9c6ead48d4"/>
    <p:sldId id="263" r:id="R1459417018464e56"/>
    <p:sldId id="264" r:id="Rc686794b44fd4829"/>
    <p:sldId id="265" r:id="R6b9a2b847e1d46b6"/>
    <p:sldId id="266" r:id="R3c92520864474a92"/>
    <p:sldId id="281" r:id="rId1"/>
    <p:sldId id="267" r:id="Rc577618686584f03"/>
    <p:sldId id="268" r:id="R9500eba0b95d4c67"/>
    <p:sldId id="269" r:id="R9e36fa2b705941c6"/>
    <p:sldId id="270" r:id="Rca5c63d4e5c54b57"/>
    <p:sldId id="271" r:id="R998e7f6b74e54e65"/>
    <p:sldId id="272" r:id="R35824c0d38f04e03"/>
    <p:sldId id="273" r:id="R6ef09fb9756146e9"/>
    <p:sldId id="274" r:id="R2eb23ee682ee4e08"/>
    <p:sldId id="275" r:id="R45ec2f9766bf4c67"/>
    <p:sldId id="276" r:id="Rf90e52d2661a4fb7"/>
    <p:sldId id="277" r:id="Rde17c76f077c4c51"/>
    <p:sldId id="278" r:id="Re1868ea37c644c79"/>
    <p:sldId id="279" r:id="R6fd2e3a94be4408d"/>
    <p:sldId id="280" r:id="R10fd2f86b810424c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0aac8b4d86aa4a43" Type="http://schemas.openxmlformats.org/officeDocument/2006/relationships/slide" Target="slides/slide4.xml"/><Relationship Id="R10fd2f86b810424c" Type="http://schemas.openxmlformats.org/officeDocument/2006/relationships/slide" Target="slides/slide26.xml"/><Relationship Id="R1459417018464e56" Type="http://schemas.openxmlformats.org/officeDocument/2006/relationships/slide" Target="slides/slide8.xml"/><Relationship Id="R28b6c539a40d4c7a" Type="http://schemas.openxmlformats.org/officeDocument/2006/relationships/slide" Target="slides/slide5.xml"/><Relationship Id="R2eb23ee682ee4e08" Type="http://schemas.openxmlformats.org/officeDocument/2006/relationships/slide" Target="slides/slide20.xml"/><Relationship Id="R2f67e73b6bd44e02" Type="http://schemas.openxmlformats.org/officeDocument/2006/relationships/presProps" Target="presProps.xml"/><Relationship Id="R35824c0d38f04e03" Type="http://schemas.openxmlformats.org/officeDocument/2006/relationships/slide" Target="slides/slide18.xml"/><Relationship Id="R3c92520864474a92" Type="http://schemas.openxmlformats.org/officeDocument/2006/relationships/slide" Target="slides/slide11.xml"/><Relationship Id="R41f31cb400c94c2d" Type="http://schemas.openxmlformats.org/officeDocument/2006/relationships/slide" Target="slides/slide6.xml"/><Relationship Id="R45ec2f9766bf4c67" Type="http://schemas.openxmlformats.org/officeDocument/2006/relationships/slide" Target="slides/slide21.xml"/><Relationship Id="R6b9a2b847e1d46b6" Type="http://schemas.openxmlformats.org/officeDocument/2006/relationships/slide" Target="slides/slide10.xml"/><Relationship Id="R6ef09fb9756146e9" Type="http://schemas.openxmlformats.org/officeDocument/2006/relationships/slide" Target="slides/slide19.xml"/><Relationship Id="R6fd2e3a94be4408d" Type="http://schemas.openxmlformats.org/officeDocument/2006/relationships/slide" Target="slides/slide25.xml"/><Relationship Id="R776574a08969436c" Type="http://schemas.openxmlformats.org/officeDocument/2006/relationships/slide" Target="slides/slide2.xml"/><Relationship Id="R8e237fb8085b48f0" Type="http://schemas.openxmlformats.org/officeDocument/2006/relationships/slide" Target="slides/slide1.xml"/><Relationship Id="R9500eba0b95d4c67" Type="http://schemas.openxmlformats.org/officeDocument/2006/relationships/slide" Target="slides/slide14.xml"/><Relationship Id="R968f59943345462c" Type="http://schemas.openxmlformats.org/officeDocument/2006/relationships/viewProps" Target="viewProps.xml"/><Relationship Id="R998e7f6b74e54e65" Type="http://schemas.openxmlformats.org/officeDocument/2006/relationships/slide" Target="slides/slide17.xml"/><Relationship Id="R9d0aaf9c6ead48d4" Type="http://schemas.openxmlformats.org/officeDocument/2006/relationships/slide" Target="slides/slide7.xml"/><Relationship Id="R9e36fa2b705941c6" Type="http://schemas.openxmlformats.org/officeDocument/2006/relationships/slide" Target="slides/slide15.xml"/><Relationship Id="Rb4982f1a85d240d6" Type="http://schemas.openxmlformats.org/officeDocument/2006/relationships/slide" Target="slides/slide3.xml"/><Relationship Id="Rb8e3f8ed539e4cd4" Type="http://schemas.openxmlformats.org/officeDocument/2006/relationships/theme" Target="slideMasters/theme/theme1.xml"/><Relationship Id="Rc577618686584f03" Type="http://schemas.openxmlformats.org/officeDocument/2006/relationships/slide" Target="slides/slide13.xml"/><Relationship Id="Rc686794b44fd4829" Type="http://schemas.openxmlformats.org/officeDocument/2006/relationships/slide" Target="slides/slide9.xml"/><Relationship Id="Rca5c63d4e5c54b57" Type="http://schemas.openxmlformats.org/officeDocument/2006/relationships/slide" Target="slides/slide16.xml"/><Relationship Id="Rd43b5c2c4ebe4eb0" Type="http://schemas.openxmlformats.org/officeDocument/2006/relationships/slideMaster" Target="slideMasters/slideMaster1.xml"/><Relationship Id="Rde17c76f077c4c51" Type="http://schemas.openxmlformats.org/officeDocument/2006/relationships/slide" Target="slides/slide23.xml"/><Relationship Id="Re1868ea37c644c79" Type="http://schemas.openxmlformats.org/officeDocument/2006/relationships/slide" Target="slides/slide24.xml"/><Relationship Id="Rf90e52d2661a4fb7" Type="http://schemas.openxmlformats.org/officeDocument/2006/relationships/slide" Target="slides/slide22.xml"/><Relationship Id="rId1" Type="http://schemas.openxmlformats.org/officeDocument/2006/relationships/slide" Target="slides/slide12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Project: Authority-Aware and Evidence-Verified RAG for Indian judicial judgments (LEX-RAG).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problem in one line: finding a relevant passage is easy; proving a legal statement from it is the hard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objectives map directly to the five modules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Basic mode works without any neural model; research mode adds MiniLM search, reranking and NLI.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1,000-character prefix limitation: it is the gap this project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six steps left to right using the chips at the bottom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that the current CSV has no court/date fields, so authority ranking is shown on the Sikkim corpus or with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models are small, public and pinned to exact revisions, so results are reproducible on a CPU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image originally named DeBERTa; the implemented NLI model is MiniLM (nli-MiniLM2-L6-H768), a CPU-friendly substitute.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listed is implemented and runs locally; 24 regression tests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Remaining work is evaluation on legally reviewed labels and richer court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change between A, B and C is how much evidence is checked. Do not present 0.951 as 95% accuracy; it is one uncalibrated NLI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honest scope: a research support tool with a clear next evaluation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for the second project: CreditAgent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simple words: the system looks at a loan applicant's details and says Lower Risk or Higher Risk, then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goals: predict risk, compare three ML models, explain each prediction with SHAP, and support a human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agents run in order. Cost Analysis treats missing a risky customer as about 5 times worse than a false alarm (5:1 cost).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a model that only gives a score is hard to trust; lenders need the reason and a human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row: the ML pipeline from the German Credit data to final evaluation (60/20/20 split). Bottom row: the LangGraph agents that use the trained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models are compared with 3-fold cross-validation; the best is chosen by ROC-AUC and F1. SHAP shows which features pushed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Forest was best on ROC-AUC (78.34%). With the threshold lowered to 0.26 it catches 85% of risky customers, at 41.8% precision. This trade-off is deliberate because missing a bad loan costs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explainable, cost-aware, human-in-the-loop credit risk support. Next: more data, calibration, fairness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guide, faculty, L&amp;T EduTech and LTIMindtree.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sources: UCI German Credit dataset and the documentation of the libraries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4.xml.rels><?xml version='1.0' encoding='UTF-8' standalone='yes'?>
<Relationships xmlns="http://schemas.openxmlformats.org/package/2006/relationships"><Relationship Id="R48c5bb7fd603477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7f03ff628f0468b" Type="http://schemas.openxmlformats.org/officeDocument/2006/relationships/slideMaster" Target="../slideMasters/slideMaster1.xml"/></Relationships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252c4d27f35544a4" Type="http://schemas.openxmlformats.org/officeDocument/2006/relationships/slideLayout" Target="../slideLayouts/slideLayout4.xml"/><Relationship Id="R4750dcc2df2a418e" Type="http://schemas.openxmlformats.org/officeDocument/2006/relationships/theme" Target="theme/theme1.xml"/><Relationship Id="R55f6971ef1704dc9" Type="http://schemas.openxmlformats.org/officeDocument/2006/relationships/image" Target="../media/image.png"/><Relationship Id="R7b0c0b023f42438d" Type="http://schemas.openxmlformats.org/officeDocument/2006/relationships/slideLayout" Target="../slideLayouts/slideLayout5.xml"/><Relationship Id="R7d054448de3e4295" Type="http://schemas.microsoft.com/office/2007/relationships/hdphoto" Target="udata/data.wdp"/><Relationship Id="R82ef595153bd4361" Type="http://schemas.openxmlformats.org/officeDocument/2006/relationships/image" Target="../media/image2.png"/><Relationship Id="R8d892ef81a554281" Type="http://schemas.openxmlformats.org/officeDocument/2006/relationships/image" Target="../media/image3.png"/><Relationship Id="Reecea51cb5654a77" Type="http://schemas.microsoft.com/office/2007/relationships/hdphoto" Target="udata/data2.wdp"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55f6971ef1704dc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82ef595153bd4361">
            <a:extLst>
              <a:ext uri="{BEBA8EAE-BF5A-486C-A8C5-ECC9F3942E4B}">
                <a14:imgProps xmlns:a14="http://schemas.microsoft.com/office/drawing/2010/main">
                  <a14:imgLayer r:embed="R7d054448de3e4295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8d892ef81a554281">
            <a:extLst>
              <a:ext uri="{BEBA8EAE-BF5A-486C-A8C5-ECC9F3942E4B}">
                <a14:imgProps xmlns:a14="http://schemas.microsoft.com/office/drawing/2010/main">
                  <a14:imgLayer r:embed="Reecea51cb5654a7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252c4d27f35544a4"/>
    <p:sldLayoutId id="2147483653" r:id="R7b0c0b023f42438d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<?xml version='1.0' encoding='UTF-8' standalone='yes'?>
<Relationships xmlns="http://schemas.openxmlformats.org/package/2006/relationships"><Relationship Id="R23d85dc4a21e49f9" Type="http://schemas.microsoft.com/office/2007/relationships/hdphoto" Target="udata/data3.wdp"/><Relationship Id="R4e39d183c9384d7e" Type="http://schemas.openxmlformats.org/officeDocument/2006/relationships/image" Target="../media/image4.png"/><Relationship Id="R65cc4a2d16254587" Type="http://schemas.openxmlformats.org/officeDocument/2006/relationships/image" Target="../media/image5.png"/><Relationship Id="R8419e4ac0b2d4e26" Type="http://schemas.openxmlformats.org/officeDocument/2006/relationships/slideLayout" Target="../slideLayouts/slideLayout5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caca401c01f34b4a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69e58c607604d30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be412572ad9b480e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92c356b6d5704210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b91fd2d0c0ba4ba3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c3444cf911b5489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86707b3b0f61463c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f2557bad417414b" Type="http://schemas.openxmlformats.org/officeDocument/2006/relationships/slideLayout" Target="../slideLayouts/slideLayout4.xml"/><Relationship Id="Ra8916fb55e644f33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f56514346a54910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7a86b79a28a84863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f56514346a54910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83a78f70a80340dc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8186fd3722f24503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26d053e20c224e12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14fadb531a16476c" Type="http://schemas.microsoft.com/office/2007/relationships/hdphoto" Target="udata/data4.wdp"/><Relationship Id="R2d453894e76240bf" Type="http://schemas.openxmlformats.org/officeDocument/2006/relationships/image" Target="../media/image4.png"/><Relationship Id="R4b718210244d40de" Type="http://schemas.openxmlformats.org/officeDocument/2006/relationships/image" Target="../media/image5.png"/><Relationship Id="R9c40e7027a6744ee" Type="http://schemas.openxmlformats.org/officeDocument/2006/relationships/slideLayout" Target="../slideLayouts/slideLayout5.xml"/><Relationship Id="rId5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8a4ab35480884e8e" Type="http://schemas.openxmlformats.org/officeDocument/2006/relationships/slideLayout" Target="../slideLayouts/slideLayout5.xml"/><Relationship Id="R95d82d8e5b5b444a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2ba85f1ae0ec480a" Type="http://schemas.openxmlformats.org/officeDocument/2006/relationships/image" Target="../media/image8.png"/><Relationship Id="R5f0373742cb94c03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00a0704656894dce" Type="http://schemas.openxmlformats.org/officeDocument/2006/relationships/image" Target="../media/image9.png"/><Relationship Id="R243fa7c38a994a7b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3e930eacf7a44914" Type="http://schemas.openxmlformats.org/officeDocument/2006/relationships/slideLayout" Target="../slideLayouts/slideLayout5.xml"/><Relationship Id="Re3d333e35e9f4afc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6678fc79cf9b437e" Type="http://schemas.openxmlformats.org/officeDocument/2006/relationships/slideLayout" Target="../slideLayouts/slideLayout5.xml"/><Relationship Id="R76f1b42ea27d44db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9ba629420d8d40de" Type="http://schemas.openxmlformats.org/officeDocument/2006/relationships/image" Target="../media/image12.png"/><Relationship Id="Rc1fd31af66c84515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0995d5914611416f" Type="http://schemas.openxmlformats.org/officeDocument/2006/relationships/image" Target="../media/image13.png"/><Relationship Id="R230864f9d2c94929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1b003f88d3474baa" Type="http://schemas.openxmlformats.org/officeDocument/2006/relationships/slideLayout" Target="../slideLayouts/slideLayout5.xml"/><Relationship Id="Rd2c003f4d25647c9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00a25fef675d4010" Type="http://schemas.openxmlformats.org/officeDocument/2006/relationships/slideLayout" Target="../slideLayouts/slideLayout5.xml"/><Relationship Id="R873bb7b084994207" Type="http://schemas.openxmlformats.org/officeDocument/2006/relationships/image" Target="../media/image15.png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45ed538f5d7046bb" Type="http://schemas.openxmlformats.org/officeDocument/2006/relationships/image" Target="../media/image16.png"/><Relationship Id="Rd964f25073cc4b1e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Review III</a:t>
            </a:r>
          </a:p>
          <a:p>
            <a:pPr algn="ctr">
              <a:spcAft>
                <a:spcPts val="1000"/>
              </a:spcAft>
            </a:pPr>
            <a:r>
              <a:rPr sz="2300" b="1">
                <a:latin typeface="Calibri"/>
              </a:rPr>
              <a:t>Authority-Aware and Evidence-Verified Retrieval-Augmented Generation for Reliable Legal Research over Indian Judicial Judgments</a:t>
            </a:r>
          </a:p>
          <a:p>
            <a:pPr algn="ctr">
              <a:spcAft>
                <a:spcPts val="1000"/>
              </a:spcAft>
            </a:pPr>
            <a:r>
              <a:rPr sz="2000" b="0">
                <a:latin typeface="Calibri"/>
              </a:rPr>
              <a:t>Tharuneesh G K</a:t>
            </a:r>
          </a:p>
          <a:p>
            <a:pPr algn="ctr">
              <a:spcAft>
                <a:spcPts val="1000"/>
              </a:spcAft>
            </a:pPr>
            <a:r>
              <a:rPr sz="2000" b="0">
                <a:latin typeface="Calibri"/>
              </a:rPr>
              <a:t>251011017</a:t>
            </a:r>
          </a:p>
          <a:p>
            <a:pPr algn="ctr">
              <a:spcAft>
                <a:spcPts val="1000"/>
              </a:spcAft>
            </a:pPr>
            <a:r>
              <a:rPr sz="2000" b="0">
                <a:latin typeface="Calibri"/>
              </a:rPr>
              <a:t>Rajalakshmi Engineering College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4e39d183c9384d7e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65cc4a2d16254587">
            <a:extLst>
              <a:ext uri="{BEBA8EAE-BF5A-486C-A8C5-ECC9F3942E4B}">
                <a14:imgProps xmlns:a14="http://schemas.microsoft.com/office/drawing/2010/main">
                  <a14:imgLayer r:embed="R23d85dc4a21e49f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Indian court judgments are long and complex, so finding the exact passage that answers a legal question takes hours.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RAG (Retrieval-Augmented Generation) can search thousands of judgments, but a relevant passage is not always proof.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A passage may only record what a party argued, not what the court decided, so evidence must be checked.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LEX-RAG retrieves evidence, ranks it by court authority when court metadata exists, and verifies statements with NLI.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32D37"/>
                </a:solidFill>
                <a:latin typeface="Calibri"/>
              </a:defRPr>
            </a:pPr>
            <a:r>
              <a:rPr dirty="0"/>
              <a:t>• Every answer is an exact, cited sentence from a judgment, or the system says "insufficient evidence".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Judgments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3091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9596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6102" y="5257800"/>
            <a:ext cx="2106777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Build a local, CPU-only legal research assistant for Indian judgment text (no paid AI API needed).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Retrieve passages with keyword search (BM25, TF-IDF) and meaning-based search (MiniLM sentence embeddings).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Rank evidence with Reciprocal Rank Fusion, a cross-encoder reranker and a court-authority bonus from real court metadata.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Verify legal statements against the judgments with NLI: Supported, Contradicted, Mixed or Not established.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Keep every result traceable (case ID, chunk ID, character offsets) and compare baseline vs proposed method.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 Processing: load CSV/Parquet, remove duplicate text, split judgments into 180-word chunks with IDs.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Hybrid Retrieval: basic mode = BM25 + TF-IDF; research mode = BM25 + MiniLM semantic search.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Evidence Reranking: a cross-encoder rescores the top 24 candidates and drops weak matches.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Authority-Aware Ranking: up to 15% bonus by court level (Supreme 1.0, High 0.8, District 0.6, Tribunal 0.5).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Evidence Extraction: returns up to 4 source sentences with citation IDs, or abstains.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Claim Verification: checks 1–3 statements with NLI over evidence windows; one extra search if not supported.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Evaluation &amp; Interface: Flask web app, baseline vs proposed comparison, review demo and JSON export.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Judgments are long, so manual searching and evidence checking are slow.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Keyword-only search misses passages that use different legal wording for the same idea.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Ranking by relevance alone ignores court hierarchy: a Supreme Court ruling and a tribunal order look equal.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Some verifiers check only the first ~1,000 characters of retrieved text and miss evidence that appears later.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700">
                <a:solidFill>
                  <a:srgbClr val="232D37"/>
                </a:solidFill>
                <a:latin typeface="Calibri"/>
              </a:defRPr>
            </a:pPr>
            <a:r>
              <a:rPr dirty="0"/>
              <a:t>• Goal: traceable retrieval + authority-aware ranking + verification that reads the whole retrieved evidence.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Step 1 – Preprocess: clean the judgment Text field and split it into overlapping chunks with case/chunk IDs.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Step 2 – Retrieve: BM25 + TF-IDF (basic) or BM25 + MiniLM dense search (research mode).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Step 3 – Fuse: combine the ranked lists with Reciprocal Rank Fusion (RRF, k = 60).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Step 4 – Rerank: cross-encoder rescoring of the top 24 candidates.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Step 5 – Authority: score × (1 + 0.15 × court weight), only when the court field is known.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Step 6 – Evidence &amp; NLI: cite source sentences; verify statements with MiniLM NLI on 190-token windows (≥ 0.80).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516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9734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2953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6171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9389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NLI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Dataset: ninadn/indian-legal (Hugging Face), 7,030 judgments with Text and Summary; only Text is searched.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Download check: file size and column names verified; SHA-256 hash saved for reproducible runs.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Deduplication: identical text within a case is removed using a SHA-256 fingerprint.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Chunking: 180 words, 35-word overlap, ≤ 30 chunks per judgment; development index = 6,000 chunks / 286 cases.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Metadata audit: this CSV has no court or date fields, so authority and date filters stay off for it.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Fallback corpus: Sikkim High Court Parquet, 11,389 chunks / 2,219 cases, with court and date fields.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516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9734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2953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6171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9389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NLI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Basic retrieval: BM25 + TF-IDF fused with Reciprocal Rank Fusion (RRF).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Semantic retrieval: sentence-transformers/all-MiniLM-L6-v2 embeddings (384 dimensions).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Reranking: cross-encoder/ms-marco-MiniLM-L6-v2.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Verification: cross-encoder/nli-MiniLM2-L6-H768 (Entailment / Neutral / Contradiction).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Authority: court-level weight × 0.15 bonus, taken from structured court metadata only.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550">
                <a:solidFill>
                  <a:srgbClr val="232D37"/>
                </a:solidFill>
                <a:latin typeface="Calibri"/>
              </a:defRPr>
            </a:pPr>
            <a:r>
              <a:rPr dirty="0"/>
              <a:t>• Tools: Python 3.12, Flask + Waitress, scikit-learn, PyTorch (CPU), Hugging Face Transformers, GitHub.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LEX-RAG 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516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9734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2953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6171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9389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NLI</a:t>
            </a:r>
          </a:p>
        </p:txBody>
      </p:sp>
      <p:pic>
        <p:nvPicPr>
          <p:cNvPr id="14" name="Picture 13" descr="wide_infographic_diagram_on_a_white_background_sho.png"/>
          <p:cNvPicPr>
            <a:picLocks noChangeAspect="1"/>
          </p:cNvPicPr>
          <p:nvPr/>
        </p:nvPicPr>
        <p:blipFill>
          <a:blip r:embed="Ra8916fb55e644f33"/>
          <a:stretch>
            <a:fillRect/>
          </a:stretch>
        </p:blipFill>
        <p:spPr>
          <a:xfrm>
            <a:off x="411480" y="1325880"/>
            <a:ext cx="11384280" cy="4572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4360" y="5806440"/>
            <a:ext cx="10972800" cy="411480"/>
          </a:xfrm>
          <a:prstGeom prst="roundRect">
            <a:avLst/>
          </a:prstGeom>
          <a:solidFill>
            <a:srgbClr val="FFF8E6"/>
          </a:solidFill>
          <a:ln>
            <a:solidFill>
              <a:srgbClr val="C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D37"/>
                </a:solidFill>
              </a:defRPr>
            </a:pPr>
            <a:r>
              <a:t>Answers are source-extracted sentences; NLI (nli-MiniLM2-L6-H768) is a separate statement checker. Authority scoring needs real court metadata.</a:t>
            </a:r>
          </a:p>
        </p:txBody>
      </p:sp>
      <p:sp>
        <p:nvSpPr>
          <p:cNvPr id="16" name="NLI model label correction"/>
          <p:cNvSpPr/>
          <p:nvPr/>
        </p:nvSpPr>
        <p:spPr>
          <a:xfrm>
            <a:off x="6480000" y="5205000"/>
            <a:ext cx="705000" cy="190000"/>
          </a:xfrm>
          <a:prstGeom prst="rect">
            <a:avLst/>
          </a:prstGeom>
          <a:solidFill>
            <a:srgbClr val="CF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(MiniLM)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 connected: ninadn/indian-legal CSV, cached locally with its SHA-256 for offline runs.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Basic mode: BM25 + TF-IDF + RRF with cited, source-extracted answers (working).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Research mode: MiniLM semantic search + cross-encoder reranking on CPU (working).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Claim checker: window-based NLI with one claim-focused re-search (working).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Review demo: compares prefix-only, evidence-window and window + re-search verification side by side.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Testing: 24 automated regression tests pass; model versions pinned in models/manifest.json.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Current Implementation Status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762524" cy="3895135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Literature Survey &amp; Research Gap — Completed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 Connection &amp; Preprocessing — Completed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Basic BM25 + TF-IDF + RRF Retrieval — Completed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Research Semantic Retrieval &amp; Neural Reranking — Completed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NLI Statement Verification / Evidence Windows — Completed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Authority-Aware Metadata Experiments — In Progress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Baseline vs Proposed Evaluation — In Progress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Final Testing, Results &amp; Documentation — In Progress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516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9734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72953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6171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9389" y="5257800"/>
            <a:ext cx="1473490" cy="475488"/>
          </a:xfrm>
          <a:prstGeom prst="roundRect">
            <a:avLst/>
          </a:prstGeom>
          <a:solidFill>
            <a:srgbClr val="EF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324F"/>
                </a:solidFill>
                <a:latin typeface="Calibri"/>
              </a:defRPr>
            </a:pPr>
            <a:r>
              <a:t>NLI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8061" y="5787996"/>
            <a:ext cx="1371600" cy="365760"/>
          </a:xfrm>
          <a:prstGeom prst="roundRect">
            <a:avLst/>
          </a:prstGeom>
          <a:solidFill>
            <a:srgbClr val="2D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0334" y="5787996"/>
            <a:ext cx="1371600" cy="365760"/>
          </a:xfrm>
          <a:prstGeom prst="roundRect">
            <a:avLst/>
          </a:prstGeom>
          <a:solidFill>
            <a:srgbClr val="CD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 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900000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Fair test: same claim, same retrieved passages, same NLI model and 0.80 threshold; only the evidence strategy changes.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00">
                <a:solidFill>
                  <a:srgbClr val="232D37"/>
                </a:solidFill>
                <a:latin typeface="Calibri"/>
              </a:defRPr>
            </a:pPr>
            <a:r>
              <a:rPr dirty="0"/>
              <a:t>• A = first 1,000 characters only  ·  B = evidence windows across all passages  ·  C = B + one re-search.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>
                <a:solidFill>
                  <a:srgbClr val="18324F"/>
                </a:solidFill>
                <a:latin typeface="Calibri"/>
              </a:defRPr>
            </a:pPr>
            <a: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  <p:graphicFrame>
        <p:nvGraphicFramePr>
          <p:cNvPr id="7" name="Recorded ablation results"/>
          <p:cNvGraphicFramePr>
            <a:graphicFrameLocks noGrp="1"/>
          </p:cNvGraphicFramePr>
          <p:nvPr/>
        </p:nvGraphicFramePr>
        <p:xfrm>
          <a:off x="400000" y="2250000"/>
          <a:ext cx="1139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000"/>
                <a:gridCol w="2200000"/>
                <a:gridCol w="2300000"/>
                <a:gridCol w="2400000"/>
              </a:tblGrid>
              <a:tr h="50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Claim tested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A: Prefix only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B: Evidence windows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C: Windows + re-search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Appellant claimed a deduction for municipal property taxes</a:t>
                      </a:r>
                    </a:p>
                  </a:txBody>
                  <a:tcPr marL="91440" marR="9144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Not established (0.017)</a:t>
                      </a:r>
                    </a:p>
                  </a:txBody>
                  <a:tcPr marL="91440" marR="9144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7A3D"/>
                          </a:solidFill>
                          <a:latin typeface="Calibri"/>
                        </a:rPr>
                        <a:t>Supported (0.951)</a:t>
                      </a:r>
                    </a:p>
                  </a:txBody>
                  <a:tcPr marL="91440" marR="9144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Supported (no retry needed)</a:t>
                      </a:r>
                    </a:p>
                  </a:txBody>
                  <a:tcPr marL="91440" marR="91440" anchor="ctr">
                    <a:solidFill>
                      <a:srgbClr val="EFF5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Property taxes are deductible from rental income (general rule)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Not established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Not established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Not established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Liability and charge co-exist and are co-extensive</a:t>
                      </a:r>
                    </a:p>
                  </a:txBody>
                  <a:tcPr marL="91440" marR="9144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Contradicted</a:t>
                      </a:r>
                    </a:p>
                  </a:txBody>
                  <a:tcPr marL="91440" marR="9144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Contradicted</a:t>
                      </a:r>
                    </a:p>
                  </a:txBody>
                  <a:tcPr marL="91440" marR="91440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Contradicted</a:t>
                      </a:r>
                    </a:p>
                  </a:txBody>
                  <a:tcPr marL="91440" marR="91440" anchor="ctr">
                    <a:solidFill>
                      <a:srgbClr val="EFF5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Quantum computers are needed to compute property tax (nonsense)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Contradicted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Contradicted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32D37"/>
                          </a:solidFill>
                          <a:latin typeface="Calibri"/>
                        </a:rPr>
                        <a:t>Contradicted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Key takeaway"/>
          <p:cNvSpPr/>
          <p:nvPr/>
        </p:nvSpPr>
        <p:spPr>
          <a:xfrm>
            <a:off x="400000" y="5000000"/>
            <a:ext cx="11390000" cy="620000"/>
          </a:xfrm>
          <a:prstGeom prst="roundRect">
            <a:avLst/>
          </a:prstGeom>
          <a:solidFill>
            <a:srgbClr val="FFF6DB"/>
          </a:solidFill>
          <a:ln>
            <a:solidFill>
              <a:srgbClr val="E0B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/>
          <a:lstStyle/>
          <a:p>
            <a:pPr algn="l"/>
            <a:r>
              <a:rPr sz="1500" b="1">
                <a:solidFill>
                  <a:srgbClr val="232D37"/>
                </a:solidFill>
                <a:latin typeface="Calibri"/>
              </a:rPr>
              <a:t>Key takeaway: </a:t>
            </a:r>
            <a:r>
              <a:rPr sz="1500">
                <a:solidFill>
                  <a:srgbClr val="232D37"/>
                </a:solidFill>
                <a:latin typeface="Calibri"/>
              </a:rPr>
              <a:t>reading the whole evidence found support the 1,000-character prefix missed (0.017 → 0.951). Four illustrative examples, not an accuracy benchmark.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LEX-RAG links every answer and verified statement to an exact passage in a judgment, or abstains.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Reading the whole retrieved evidence matters: in one test, prefix-only support was 0.017; window-based, 0.951.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Authority-aware ranking uses only real court metadata, never courts merely cited inside a judgment.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It is a legal research support tool, not a substitute for a lawyer's interpretation.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650">
                <a:solidFill>
                  <a:srgbClr val="232D37"/>
                </a:solidFill>
                <a:latin typeface="Calibri"/>
              </a:defRPr>
            </a:pPr>
            <a:r>
              <a:rPr dirty="0"/>
              <a:t>• Next: legally reviewed test set, threshold calibration, mixed-court data and Recall@5 / MRR / nDCG evaluation.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Aft>
                <a:spcPts val="700"/>
              </a:spcAft>
              <a:buNone/>
              <a:defRPr sz="2000">
                <a:latin typeface="Calibri"/>
              </a:defRPr>
            </a:pPr>
            <a:r>
              <a:rPr dirty="0"/>
              <a:t>• I sincerely thank my project guide, faculty members and reviewers for their guidance and technical feedback.</a:t>
            </a: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  <a:defRPr sz="2000">
                <a:latin typeface="Calibri"/>
              </a:defRPr>
            </a:pPr>
            <a:r>
              <a:rPr dirty="0"/>
              <a:t>• I thank Rajalakshmi Engineering College, LTIMindtree and the M.Tech Advanced Industry Integrated Program.</a:t>
            </a: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  <a:defRPr sz="2000">
                <a:latin typeface="Calibri"/>
              </a:defRPr>
            </a:pPr>
            <a:r>
              <a:rPr dirty="0"/>
              <a:t>• I acknowledge the open-source community and the model and dataset providers used in this project.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Lewis et al. (2020) — Retrieval-Augmented Generation for Knowledge-Intensive NLP Tasks.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Robertson &amp; Zaragoza (2009) — The Probabilistic Relevance Framework: BM25 and Beyond.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Cormack, Clarke &amp; Buettcher (2009) — Reciprocal Rank Fusion Outperforms Condorcet and Individual Rank Learning Methods.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Reimers &amp; Gurevych (2019) — Sentence-BERT: Sentence Embeddings using Siamese BERT-Networks.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Wang et al. (2020) — MiniLM: Deep Self-Attention Distillation for Compression of Pre-Trained Transformers.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Nogueira &amp; Cho (2019) — Passage Re-ranking with BERT.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Bowman et al. (2015) — A Large Annotated Corpus for Learning Natural Language Inference.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Pipitone &amp; Houir Alami (2024) — LegalBench-RAG: A Benchmark for RAG in the Legal Domain.</a:t>
            </a:r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  <a:defRPr sz="1350">
                <a:solidFill>
                  <a:srgbClr val="232D37"/>
                </a:solidFill>
                <a:latin typeface="Calibri"/>
              </a:defRPr>
            </a:pPr>
            <a:r>
              <a:rPr dirty="0"/>
              <a:t>• Dataset — ninadn/indian-legal, Hugging 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000" b="0">
                <a:latin typeface="Calibri"/>
              </a:rPr>
              <a:t>Authority-Aware &amp; Evidence-Verified RAG for Indian Judicial Judgments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/>
              </a:rPr>
              <a:t>Agentic AI-Based Credit Risk Assessment using Machine Learning and </a:t>
            </a:r>
            <a:r>
              <a:rPr lang="en-US" sz="3600" b="1" dirty="0" err="1">
                <a:solidFill>
                  <a:prstClr val="white"/>
                </a:solidFill>
                <a:cs typeface="Calibri"/>
              </a:rPr>
              <a:t>LangGraph</a:t>
            </a:r>
            <a:endParaRPr lang="en-US" sz="3600" b="1" dirty="0" err="1">
              <a:solidFill>
                <a:srgbClr val="FFFFFF"/>
              </a:solidFill>
              <a:ea typeface="Calibri"/>
              <a:cs typeface="Calibri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ea typeface="Calibri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>
                <a:solidFill>
                  <a:prstClr val="white"/>
                </a:solidFill>
                <a:ea typeface="Calibri"/>
                <a:cs typeface="Calibri" panose="020F0502020204030204" pitchFamily="34" charset="0"/>
              </a:rPr>
              <a:t>251011017</a:t>
            </a:r>
            <a:endParaRPr lang="en-US" sz="2400" b="1" dirty="0">
              <a:solidFill>
                <a:prstClr val="white"/>
              </a:solidFill>
              <a:ea typeface="Calibri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Rajalakshmi Engineering College</a:t>
            </a:r>
            <a:endParaRPr lang="en-US" sz="2400" b="1" dirty="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2d453894e76240bf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4b718210244d40de">
            <a:extLst>
              <a:ext uri="{BEBA8EAE-BF5A-486C-A8C5-ECC9F3942E4B}">
                <a14:imgProps xmlns:a14="http://schemas.microsoft.com/office/drawing/2010/main">
                  <a14:imgLayer r:embed="R14fadb531a16476c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dded project content">
            <a:extLst>
              <a:ext uri="{FF2B5EF4-FFF2-40B4-BE49-F238E27FC236}">
                <a16:creationId xmlns:a16="http://schemas.microsoft.com/office/drawing/2014/main" id="{860767C4-0800-4CCD-B196-46CB7650D976}"/>
              </a:ext>
            </a:extLst>
          </p:cNvPr>
          <p:cNvSpPr>
            <a:spLocks noGrp="1"/>
          </p:cNvSpPr>
          <p:nvPr/>
        </p:nvSpPr>
        <p:spPr>
          <a:xfrm>
            <a:off x="333375" y="2238375"/>
            <a:ext cx="2952750" cy="666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en-US" sz="30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Added project content">
            <a:extLst>
              <a:ext uri="{FF2B5EF4-FFF2-40B4-BE49-F238E27FC236}">
                <a16:creationId xmlns:a16="http://schemas.microsoft.com/office/drawing/2014/main" id="{11082AF5-4317-489D-BC54-399F6508D2C1}"/>
              </a:ext>
            </a:extLst>
          </p:cNvPr>
          <p:cNvSpPr>
            <a:spLocks noGrp="1"/>
          </p:cNvSpPr>
          <p:nvPr/>
        </p:nvSpPr>
        <p:spPr>
          <a:xfrm>
            <a:off x="333375" y="3000375"/>
            <a:ext cx="2905125" cy="15716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en-US" sz="2100" b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Added project content">
            <a:extLst>
              <a:ext uri="{FF2B5EF4-FFF2-40B4-BE49-F238E27FC236}">
                <a16:creationId xmlns:a16="http://schemas.microsoft.com/office/drawing/2014/main" id="{F94CDB37-2E4B-4C21-A6C4-0604240B2E76}"/>
              </a:ext>
            </a:extLst>
          </p:cNvPr>
          <p:cNvSpPr>
            <a:spLocks noGrp="1"/>
          </p:cNvSpPr>
          <p:nvPr/>
        </p:nvSpPr>
        <p:spPr>
          <a:xfrm>
            <a:off x="4704626" y="4285043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THARUNEESH G K</a:t>
            </a:r>
            <a:endParaRPr lang="en-US" sz="24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Added project content">
            <a:extLst>
              <a:ext uri="{FF2B5EF4-FFF2-40B4-BE49-F238E27FC236}">
                <a16:creationId xmlns:a16="http://schemas.microsoft.com/office/drawing/2014/main" id="{FAA1C425-DBC7-4621-8E1C-13D2F7F97539}"/>
              </a:ext>
            </a:extLst>
          </p:cNvPr>
          <p:cNvSpPr>
            <a:spLocks noGrp="1"/>
          </p:cNvSpPr>
          <p:nvPr/>
        </p:nvSpPr>
        <p:spPr>
          <a:xfrm>
            <a:off x="8725623" y="1658435"/>
            <a:ext cx="3048000" cy="2000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en-US" sz="2100" b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12AE7FD3-175D-4688-9E31-80D07E3A83A7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5580"/>
                </a:solidFill>
                <a:latin typeface="Calibri"/>
                <a:ea typeface="Calibri"/>
                <a:cs typeface="Calibri"/>
              </a:rPr>
              <a:t>CreditAgent AI</a:t>
            </a: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C0E8F4D3-6D3D-4143-9C69-19EE7D15D6F8}"/>
              </a:ext>
            </a:extLst>
          </p:cNvPr>
          <p:cNvSpPr>
            <a:spLocks noGrp="1"/>
          </p:cNvSpPr>
          <p:nvPr/>
        </p:nvSpPr>
        <p:spPr>
          <a:xfrm>
            <a:off x="428625" y="2305050"/>
            <a:ext cx="11144250" cy="3876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CreditAgent AI predicts whether a customer is Lower Risk or Higher Risk.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It uses customer credit details such as loan amount, savings, credit history and employment.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LangGraph connects agents for validation, prediction, explanation and recommendation.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Customer Data → ML Prediction → Agent Review → Final Support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8241C0-6673-31B8-BCA8-7131C17AF645}"/>
              </a:ext>
            </a:extLst>
          </p:cNvPr>
          <p:cNvPicPr>
            <a:picLocks noChangeAspect="1"/>
          </p:cNvPicPr>
          <p:nvPr/>
        </p:nvPicPr>
        <p:blipFill>
          <a:blip r:embed="R95d82d8e5b5b444a"/>
          <a:stretch>
            <a:fillRect/>
          </a:stretch>
        </p:blipFill>
        <p:spPr>
          <a:xfrm>
            <a:off x="-3677" y="1240904"/>
            <a:ext cx="11958216" cy="47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Objective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D79D503E-1ACD-4563-93E3-433713F81326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5580"/>
                </a:solidFill>
                <a:latin typeface="Calibri"/>
                <a:ea typeface="Calibri"/>
                <a:cs typeface="Calibri"/>
              </a:rPr>
              <a:t>CreditAgent AI</a:t>
            </a: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A5646F40-E96A-4C2F-9C23-2F67885638C2}"/>
              </a:ext>
            </a:extLst>
          </p:cNvPr>
          <p:cNvSpPr>
            <a:spLocks noGrp="1"/>
          </p:cNvSpPr>
          <p:nvPr/>
        </p:nvSpPr>
        <p:spPr>
          <a:xfrm>
            <a:off x="428625" y="2314575"/>
            <a:ext cx="11191875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Predict Credit Risk: Classify customer applications as Lower Risk or Higher Risk.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Compare ML Models: Evaluate Logistic Regression, Random Forest and Gradient Boosting.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Explain Results: Use SHAP to show features that influenced each prediction.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Support Review: Give human-review recommendation, report and monitoring support.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E640DE-6E9B-073D-7F50-4A792B5ECF24}"/>
              </a:ext>
            </a:extLst>
          </p:cNvPr>
          <p:cNvPicPr>
            <a:picLocks noChangeAspect="1"/>
          </p:cNvPicPr>
          <p:nvPr/>
        </p:nvPicPr>
        <p:blipFill>
          <a:blip r:embed="R2ba85f1ae0ec480a"/>
          <a:stretch>
            <a:fillRect/>
          </a:stretch>
        </p:blipFill>
        <p:spPr>
          <a:xfrm>
            <a:off x="-1" y="1242646"/>
            <a:ext cx="12037671" cy="497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600" b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lang="en-US" sz="3600" b="1" i="0" u="none" strike="noStrike" kern="1200" cap="none" spc="0" normalizeH="0" baseline="0" noProof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0A4595E5-E3E1-4E3E-9462-0C51E8458FA9}"/>
              </a:ext>
            </a:extLst>
          </p:cNvPr>
          <p:cNvSpPr>
            <a:spLocks noGrp="1"/>
          </p:cNvSpPr>
          <p:nvPr/>
        </p:nvSpPr>
        <p:spPr>
          <a:xfrm>
            <a:off x="428625" y="3028950"/>
            <a:ext cx="5429250" cy="2143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Data Validation: checks user input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Preprocessing: model-ready data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Risk Prediction: ML probability</a:t>
            </a:r>
          </a:p>
        </p:txBody>
      </p:sp>
      <p:sp>
        <p:nvSpPr>
          <p:cNvPr id="8" name="Added project content">
            <a:extLst>
              <a:ext uri="{FF2B5EF4-FFF2-40B4-BE49-F238E27FC236}">
                <a16:creationId xmlns:a16="http://schemas.microsoft.com/office/drawing/2014/main" id="{02F1CD65-C957-4684-9F69-CCE7927622C0}"/>
              </a:ext>
            </a:extLst>
          </p:cNvPr>
          <p:cNvSpPr>
            <a:spLocks noGrp="1"/>
          </p:cNvSpPr>
          <p:nvPr/>
        </p:nvSpPr>
        <p:spPr>
          <a:xfrm>
            <a:off x="6143625" y="3028950"/>
            <a:ext cx="5476875" cy="2143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Cost Analysis: 5:1 risk cost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SHAP Explanation: feature influence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Recommendation: human review action</a:t>
            </a:r>
          </a:p>
        </p:txBody>
      </p:sp>
      <p:sp>
        <p:nvSpPr>
          <p:cNvPr id="9" name="Added project content">
            <a:extLst>
              <a:ext uri="{FF2B5EF4-FFF2-40B4-BE49-F238E27FC236}">
                <a16:creationId xmlns:a16="http://schemas.microsoft.com/office/drawing/2014/main" id="{ACED2BCF-718D-415E-8F6C-F51643499EE2}"/>
              </a:ext>
            </a:extLst>
          </p:cNvPr>
          <p:cNvSpPr>
            <a:spLocks noGrp="1"/>
          </p:cNvSpPr>
          <p:nvPr/>
        </p:nvSpPr>
        <p:spPr>
          <a:xfrm>
            <a:off x="952500" y="5381625"/>
            <a:ext cx="10572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Supporting modules: SQLite history  |  MLflow tracking  |  Batch assessment  |  Fairness audit  |  Drift monitoring  |  PDF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8F703-F817-2DB0-3F25-5EAC63AB4F26}"/>
              </a:ext>
            </a:extLst>
          </p:cNvPr>
          <p:cNvPicPr>
            <a:picLocks noChangeAspect="1"/>
          </p:cNvPicPr>
          <p:nvPr/>
        </p:nvPicPr>
        <p:blipFill>
          <a:blip r:embed="R00a0704656894dce"/>
          <a:stretch>
            <a:fillRect/>
          </a:stretch>
        </p:blipFill>
        <p:spPr>
          <a:xfrm>
            <a:off x="0" y="1271612"/>
            <a:ext cx="12192000" cy="498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600" b="1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lang="en-US" sz="3600" b="1" i="0" u="none" strike="noStrike" kern="1200" cap="none" spc="0" normalizeH="0" baseline="0" noProof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BBEF5E67-F842-40F2-8E9B-A000CF34C779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5580"/>
                </a:solidFill>
                <a:latin typeface="Calibri"/>
                <a:ea typeface="Calibri"/>
                <a:cs typeface="Calibri"/>
              </a:rPr>
              <a:t>CreditAgent AI</a:t>
            </a: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A862C200-5091-4F39-8093-7AFCE530756A}"/>
              </a:ext>
            </a:extLst>
          </p:cNvPr>
          <p:cNvSpPr>
            <a:spLocks noGrp="1"/>
          </p:cNvSpPr>
          <p:nvPr/>
        </p:nvSpPr>
        <p:spPr>
          <a:xfrm>
            <a:off x="428625" y="2305050"/>
            <a:ext cx="11144250" cy="3876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Credit-risk assessment must identify risky customers before lending decisions.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Manual review can be slow and may not explain every decision consistently.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Pure ML models can behave like black boxes without clear reason for prediction.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project needs prediction, explanation, cost awareness and human-review support.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Challenge: Risk prediction needs accuracy + explanation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Solution: ML + SHAP + LangGraph agents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DB9C5A-E1A4-9A80-D842-5EE1262BA57D}"/>
              </a:ext>
            </a:extLst>
          </p:cNvPr>
          <p:cNvPicPr>
            <a:picLocks noChangeAspect="1"/>
          </p:cNvPicPr>
          <p:nvPr/>
        </p:nvPicPr>
        <p:blipFill>
          <a:blip r:embed="Re3d333e35e9f4afc"/>
          <a:stretch>
            <a:fillRect/>
          </a:stretch>
        </p:blipFill>
        <p:spPr>
          <a:xfrm>
            <a:off x="0" y="1267480"/>
            <a:ext cx="12192000" cy="491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600" b="1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lang="en-US" sz="3600" b="1" i="0" u="none" strike="noStrike" kern="1200" cap="none" spc="0" normalizeH="0" baseline="0" noProof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AE0D3B35-391C-41A5-A2F3-CA6EB4A5ED99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5580"/>
                </a:solidFill>
                <a:latin typeface="Calibri"/>
                <a:ea typeface="Calibri"/>
                <a:cs typeface="Calibri"/>
              </a:rPr>
              <a:t>CreditAgent AI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770226-6861-FA92-097D-F1493D014595}"/>
              </a:ext>
            </a:extLst>
          </p:cNvPr>
          <p:cNvPicPr>
            <a:picLocks noChangeAspect="1"/>
          </p:cNvPicPr>
          <p:nvPr/>
        </p:nvPicPr>
        <p:blipFill>
          <a:blip r:embed="R76f1b42ea27d44db"/>
          <a:stretch>
            <a:fillRect/>
          </a:stretch>
        </p:blipFill>
        <p:spPr>
          <a:xfrm>
            <a:off x="0" y="1249924"/>
            <a:ext cx="12192000" cy="500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436F3CF4-E894-46A6-B529-93EE5C9ED648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5580"/>
                </a:solidFill>
                <a:latin typeface="Calibri"/>
                <a:ea typeface="Calibri"/>
                <a:cs typeface="Calibri"/>
              </a:rPr>
              <a:t>CreditAgent AI</a:t>
            </a: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BF4C9CD1-69B1-48F4-8242-22E0EC245C8F}"/>
              </a:ext>
            </a:extLst>
          </p:cNvPr>
          <p:cNvSpPr>
            <a:spLocks noGrp="1"/>
          </p:cNvSpPr>
          <p:nvPr/>
        </p:nvSpPr>
        <p:spPr>
          <a:xfrm>
            <a:off x="428625" y="2343150"/>
            <a:ext cx="3667125" cy="3571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Algorithms</a:t>
            </a:r>
          </a:p>
          <a:p>
            <a:pPr>
              <a:defRPr sz="22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Logistic Regression | Random Forest | Gradient Boosting</a:t>
            </a:r>
          </a:p>
          <a:p>
            <a:endParaRPr sz="225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2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Validation</a:t>
            </a:r>
          </a:p>
          <a:p>
            <a:pPr>
              <a:defRPr sz="22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3-Fold CV + ROC-AUC + F1 selection</a:t>
            </a:r>
          </a:p>
          <a:p>
            <a:endParaRPr sz="225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2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Explainability</a:t>
            </a:r>
          </a:p>
          <a:p>
            <a:pPr>
              <a:defRPr sz="22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SHAP feature contribution analysis</a:t>
            </a:r>
          </a:p>
        </p:txBody>
      </p:sp>
      <p:graphicFrame>
        <p:nvGraphicFramePr>
          <p:cNvPr id="8" name="Table 13"/>
          <p:cNvGraphicFramePr>
            <a:graphicFrameLocks noGrp="1"/>
          </p:cNvGraphicFramePr>
          <p:nvPr/>
        </p:nvGraphicFramePr>
        <p:xfrm>
          <a:off x="4476750" y="2305050"/>
          <a:ext cx="7191375" cy="3800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A2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0A2A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Backend/API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Python, Flask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Scikit-learn, Pandas,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Agentic AI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LangGraph StateGraph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Storage/Tracking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SQLite, MLflow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21F35"/>
                          </a:solidFill>
                          <a:latin typeface="Calibri"/>
                        </a:rPr>
                        <a:t>ReportLab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340B0C3-725A-39E8-B8EB-4A9DC277FF02}"/>
              </a:ext>
            </a:extLst>
          </p:cNvPr>
          <p:cNvPicPr>
            <a:picLocks noChangeAspect="1"/>
          </p:cNvPicPr>
          <p:nvPr/>
        </p:nvPicPr>
        <p:blipFill>
          <a:blip r:embed="R9ba629420d8d40de"/>
          <a:stretch>
            <a:fillRect/>
          </a:stretch>
        </p:blipFill>
        <p:spPr>
          <a:xfrm>
            <a:off x="0" y="1274699"/>
            <a:ext cx="12192000" cy="498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600" b="1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lang="en-US" sz="3600" b="1" i="0" u="none" strike="noStrike" kern="1200" cap="none" spc="0" normalizeH="0" baseline="0" noProof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097E3969-EF77-4769-8556-697153106F6F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endParaRPr lang="en-US" sz="1950" b="1" dirty="0">
              <a:solidFill>
                <a:srgbClr val="2255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D9CB6807-39AC-4390-9E65-920219D61DFE}"/>
              </a:ext>
            </a:extLst>
          </p:cNvPr>
          <p:cNvSpPr>
            <a:spLocks noGrp="1"/>
          </p:cNvSpPr>
          <p:nvPr/>
        </p:nvSpPr>
        <p:spPr>
          <a:xfrm>
            <a:off x="428625" y="2305050"/>
            <a:ext cx="11096625" cy="185737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en-US" sz="2400" b="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Added project content">
            <a:extLst>
              <a:ext uri="{FF2B5EF4-FFF2-40B4-BE49-F238E27FC236}">
                <a16:creationId xmlns:a16="http://schemas.microsoft.com/office/drawing/2014/main" id="{26C9FEAD-F049-434C-ABB6-4E4B775C9CB1}"/>
              </a:ext>
            </a:extLst>
          </p:cNvPr>
          <p:cNvSpPr>
            <a:spLocks noGrp="1"/>
          </p:cNvSpPr>
          <p:nvPr/>
        </p:nvSpPr>
        <p:spPr>
          <a:xfrm>
            <a:off x="428625" y="4429125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02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en-US" sz="2000" b="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Added project content">
            <a:extLst>
              <a:ext uri="{FF2B5EF4-FFF2-40B4-BE49-F238E27FC236}">
                <a16:creationId xmlns:a16="http://schemas.microsoft.com/office/drawing/2014/main" id="{E0A8F512-DBC2-4433-9686-46CFF1921751}"/>
              </a:ext>
            </a:extLst>
          </p:cNvPr>
          <p:cNvSpPr>
            <a:spLocks noGrp="1"/>
          </p:cNvSpPr>
          <p:nvPr/>
        </p:nvSpPr>
        <p:spPr>
          <a:xfrm>
            <a:off x="428625" y="5314950"/>
            <a:ext cx="11096625" cy="8191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2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endParaRPr lang="en-US" sz="2250" b="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B8236A-57F2-D17D-A891-250D87A5DE65}"/>
              </a:ext>
            </a:extLst>
          </p:cNvPr>
          <p:cNvPicPr>
            <a:picLocks noChangeAspect="1"/>
          </p:cNvPicPr>
          <p:nvPr/>
        </p:nvPicPr>
        <p:blipFill>
          <a:blip r:embed="R0995d5914611416f"/>
          <a:stretch>
            <a:fillRect/>
          </a:stretch>
        </p:blipFill>
        <p:spPr>
          <a:xfrm>
            <a:off x="852608" y="1242468"/>
            <a:ext cx="10477138" cy="4749240"/>
          </a:xfrm>
          <a:prstGeom prst="rect">
            <a:avLst/>
          </a:prstGeom>
        </p:spPr>
      </p:pic>
      <p:sp>
        <p:nvSpPr>
          <p:cNvPr id="11" name="Threshold note"/>
          <p:cNvSpPr txBox="1"/>
          <p:nvPr/>
        </p:nvSpPr>
        <p:spPr>
          <a:xfrm>
            <a:off x="852608" y="5995000"/>
            <a:ext cx="10477138" cy="30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00" i="1">
                <a:solidFill>
                  <a:srgbClr val="232D37"/>
                </a:solidFill>
                <a:latin typeface="Calibri"/>
              </a:rPr>
              <a:t>Note: the comparison table uses the default threshold. Lowering it to 0.26 raises recall to 85% (51 of 60 risky customers caught) but flags 71 good customers.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F19756A0-BFE9-4DE0-9678-399CBED9DB14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5580"/>
                </a:solidFill>
                <a:latin typeface="Calibri"/>
                <a:ea typeface="Calibri"/>
                <a:cs typeface="Calibri"/>
              </a:rPr>
              <a:t>CreditAgent AI</a:t>
            </a: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1031CF3F-46B1-420D-A9EC-FEAF8391D8B9}"/>
              </a:ext>
            </a:extLst>
          </p:cNvPr>
          <p:cNvSpPr>
            <a:spLocks noGrp="1"/>
          </p:cNvSpPr>
          <p:nvPr/>
        </p:nvSpPr>
        <p:spPr>
          <a:xfrm>
            <a:off x="428625" y="2305050"/>
            <a:ext cx="11144250" cy="3876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CreditAgent AI provides an explainable credit-risk decision-support prototype.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system combines ML model comparison, threshold-based risk prediction and SHAP explanation.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LangGraph makes the process structured through validation, preprocessing, risk, cost, explanation and recommendation agents.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Future improvement: larger datasets, calibration, stronger fairness testing and live deployment support.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Outcome: Transparent + Human-in-the-loop risk assessment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1D77AB-BC65-7B29-5B61-A4A16A037DDA}"/>
              </a:ext>
            </a:extLst>
          </p:cNvPr>
          <p:cNvPicPr>
            <a:picLocks noChangeAspect="1"/>
          </p:cNvPicPr>
          <p:nvPr/>
        </p:nvPicPr>
        <p:blipFill>
          <a:blip r:embed="Rd2c003f4d25647c9"/>
          <a:stretch>
            <a:fillRect/>
          </a:stretch>
        </p:blipFill>
        <p:spPr>
          <a:xfrm>
            <a:off x="0" y="1244336"/>
            <a:ext cx="12192000" cy="502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A5AE9EA5-DE08-45B4-862F-DA3A0AF14074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5580"/>
                </a:solidFill>
                <a:latin typeface="Calibri"/>
                <a:ea typeface="Calibri"/>
                <a:cs typeface="Calibri"/>
              </a:rPr>
              <a:t>CreditAgent AI</a:t>
            </a: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F64EDB95-2A5F-4964-A42C-DCF99A782130}"/>
              </a:ext>
            </a:extLst>
          </p:cNvPr>
          <p:cNvSpPr>
            <a:spLocks noGrp="1"/>
          </p:cNvSpPr>
          <p:nvPr/>
        </p:nvSpPr>
        <p:spPr>
          <a:xfrm>
            <a:off x="428625" y="2305050"/>
            <a:ext cx="11144250" cy="3876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 sincerely thank my guide, department faculty and reviewers for their valuable feedback.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 also thank L&amp;T EduTech and LTIMindTree for providing the industry-integrated project review platform.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Special thanks to open-source communities behind Scikit-learn, LangGraph, SHAP, Flask and Pandas.</a:t>
            </a:r>
          </a:p>
          <a:p>
            <a:endParaRPr sz="24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4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Thank You — CreditAgent AI — Review III Presentation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FBACD8-790D-ACEF-679F-EA200E489D7F}"/>
              </a:ext>
            </a:extLst>
          </p:cNvPr>
          <p:cNvPicPr>
            <a:picLocks noChangeAspect="1"/>
          </p:cNvPicPr>
          <p:nvPr/>
        </p:nvPicPr>
        <p:blipFill>
          <a:blip r:embed="R873bb7b084994207"/>
          <a:stretch>
            <a:fillRect/>
          </a:stretch>
        </p:blipFill>
        <p:spPr>
          <a:xfrm>
            <a:off x="0" y="1438112"/>
            <a:ext cx="12192000" cy="475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Agentic AI-Based Credit Risk Assessment – CreditAgent AI</a:t>
            </a:r>
          </a:p>
        </p:txBody>
      </p:sp>
      <p:sp>
        <p:nvSpPr>
          <p:cNvPr id="6" name="Added project content">
            <a:extLst>
              <a:ext uri="{FF2B5EF4-FFF2-40B4-BE49-F238E27FC236}">
                <a16:creationId xmlns:a16="http://schemas.microsoft.com/office/drawing/2014/main" id="{C67E5193-3EED-48CA-AF66-61D889D00B25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2558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25580"/>
                </a:solidFill>
                <a:latin typeface="Calibri"/>
                <a:ea typeface="Calibri"/>
                <a:cs typeface="Calibri"/>
              </a:rPr>
              <a:t>CreditAgent AI</a:t>
            </a:r>
          </a:p>
        </p:txBody>
      </p:sp>
      <p:sp>
        <p:nvSpPr>
          <p:cNvPr id="7" name="Added project content">
            <a:extLst>
              <a:ext uri="{FF2B5EF4-FFF2-40B4-BE49-F238E27FC236}">
                <a16:creationId xmlns:a16="http://schemas.microsoft.com/office/drawing/2014/main" id="{EFE5DB39-BDB3-4E78-A33D-F3A9C8A1482A}"/>
              </a:ext>
            </a:extLst>
          </p:cNvPr>
          <p:cNvSpPr>
            <a:spLocks noGrp="1"/>
          </p:cNvSpPr>
          <p:nvPr/>
        </p:nvSpPr>
        <p:spPr>
          <a:xfrm>
            <a:off x="428625" y="2305050"/>
            <a:ext cx="11144250" cy="3876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UCI Machine Learning Repository — German Credit Dataset.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Scikit-learn Documentation — Logistic Regression, Random Forest, Gradient Boosting and metrics.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LangGraph Documentation — StateGraph workflow and agent orchestration.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SHAP Documentation — SHapley Additive Explanations for model interpretability.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Flask, SQLite, MLflow and ReportLab documentation for application, tracking and reporting.</a:t>
            </a:r>
          </a:p>
          <a:p>
            <a:endParaRPr sz="2100" b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>
              <a:defRPr sz="21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Project code reference: CreditAgent local research application and credit_engine module.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449C0E-2F5C-066A-0F04-68E1AFC22BF5}"/>
              </a:ext>
            </a:extLst>
          </p:cNvPr>
          <p:cNvPicPr>
            <a:picLocks noChangeAspect="1"/>
          </p:cNvPicPr>
          <p:nvPr/>
        </p:nvPicPr>
        <p:blipFill>
          <a:blip r:embed="R45ed538f5d7046bb"/>
          <a:stretch>
            <a:fillRect/>
          </a:stretch>
        </p:blipFill>
        <p:spPr>
          <a:xfrm>
            <a:off x="0" y="1260983"/>
            <a:ext cx="12192000" cy="509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1293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Tharuneesh G K</lastModifiedBy>
  <revision>16</revision>
  <dcterms:created xsi:type="dcterms:W3CDTF">2024-05-13T10:33:11.0000000Z</dcterms:created>
  <dcterms:modified xsi:type="dcterms:W3CDTF">2026-10-07T18:05:42.3920000Z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